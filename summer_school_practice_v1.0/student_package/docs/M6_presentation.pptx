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SC"/>
              </a:defRPr>
            </a:pPr>
            <a:r>
              <a:t>M6 综合演练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C4E8"/>
                </a:solidFill>
                <a:latin typeface="Noto Sans SC"/>
              </a:defRPr>
            </a:pPr>
            <a:r>
              <a:t>M2-M5 统一数据链处理链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A0C0"/>
                </a:solidFill>
                <a:latin typeface="Noto Sans SC"/>
              </a:defRPr>
            </a:pPr>
            <a:r>
              <a:t>数据链软件暑期学校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A0C0"/>
                </a:solidFill>
                <a:latin typeface="Noto Sans SC"/>
              </a:defRPr>
            </a:pPr>
            <a:r>
              <a:t>2026年8月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669280"/>
            <a:ext cx="1645920" cy="457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M2 编解码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5669280"/>
            <a:ext cx="1645920" cy="457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M3 航迹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5669280"/>
            <a:ext cx="1645920" cy="457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M4 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5669280"/>
            <a:ext cx="1645920" cy="457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M5 质检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Noto Sans SC"/>
              </a:defRPr>
            </a:pPr>
            <a:r>
              <a:t>完整处理流程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7373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Noto Sans SC"/>
              </a:defRPr>
            </a:pPr>
            <a:r>
              <a:t>1. 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OpenSky 状态向量</a:t>
            </a:r>
            <a:br/>
            <a:r>
              <a:t>→ 发送方内部记录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463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71600"/>
            <a:ext cx="1737360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Noto Sans SC"/>
              </a:defRPr>
            </a:pPr>
            <a:r>
              <a:t>2. 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11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41字节大端帧</a:t>
            </a:r>
            <a:br/>
            <a:r>
              <a:t>定点量化+标志位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463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17373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Noto Sans SC"/>
              </a:defRPr>
            </a:pPr>
            <a:r>
              <a:t>3. 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校验和+保留位</a:t>
            </a:r>
            <a:br/>
            <a:r>
              <a:t>物理量恢复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463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1737360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Noto Sans SC"/>
              </a:defRPr>
            </a:pPr>
            <a:r>
              <a:t>4. 航迹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target_id分组</a:t>
            </a:r>
            <a:br/>
            <a:r>
              <a:t>timestamp排序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463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173736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Noto Sans SC"/>
              </a:defRPr>
            </a:pPr>
            <a:r>
              <a:t>5. 映射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11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统一态势模型</a:t>
            </a:r>
            <a:br/>
            <a:r>
              <a:t>人工核验规则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463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371600"/>
            <a:ext cx="1737360" cy="5486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Noto Sans SC"/>
              </a:defRPr>
            </a:pPr>
            <a:r>
              <a:t>6. 质检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0116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R1-R4规则</a:t>
            </a:r>
            <a:br/>
            <a:r>
              <a:t>告警+质量态势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数据流：raw_states.json / multitime.bin → encoded_messages.bin → decoded CSV → track_table → current_situation → unified_situation.ndjson → alert_log + quality_situation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Noto Sans SC"/>
              </a:defRPr>
            </a:pPr>
            <a:r>
              <a:t>关键指标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73736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SC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OpenSky输入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4754880"/>
            <a:ext cx="1737360" cy="10972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SC"/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440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TeachingLink帧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754880"/>
            <a:ext cx="173736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SC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440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编码帧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754880"/>
            <a:ext cx="1737360" cy="10972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SC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440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航迹目标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754880"/>
            <a:ext cx="173736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SC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440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统一态势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4754880"/>
            <a:ext cx="1737360" cy="10972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4846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SC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440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SC"/>
              </a:defRPr>
            </a:pPr>
            <a:r>
              <a:t>告警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Noto Sans SC"/>
              </a:defRPr>
            </a:pPr>
            <a:r>
              <a:t>编解码与持久化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C86"/>
                </a:solidFill>
                <a:latin typeface="Noto Sans SC"/>
              </a:defRPr>
            </a:pPr>
            <a:r>
              <a:t>41字节 TeachingLink 帧结构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magic (0x4453)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固定头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67128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version/type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671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67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v1/type1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51176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message_length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511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51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固定41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35224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message_seq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352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9352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0-65535回绕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19272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timestamp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192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319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Unix秒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target_id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3B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uint24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87368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callsign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873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87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ASCII补0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71416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lat/lon_code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4714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6B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71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22位×2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55464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alt/speed/hdg/vrate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8554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8B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855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uint16×4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39512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status/validity_flags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2395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239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标志位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623560"/>
            <a:ext cx="25603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F2937"/>
                </a:solidFill>
                <a:latin typeface="Noto Sans SC"/>
              </a:defRPr>
            </a:pPr>
            <a:r>
              <a:t>checksum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623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E7C86"/>
                </a:solidFill>
                <a:latin typeface="Noto Sans SC"/>
              </a:defRPr>
            </a:pPr>
            <a:r>
              <a:t>2B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623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前39字节和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C86"/>
                </a:solidFill>
                <a:latin typeface="Noto Sans SC"/>
              </a:defRPr>
            </a:pPr>
            <a:r>
              <a:t>编解码验证结果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178308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SC"/>
              </a:defRPr>
            </a:pPr>
            <a:r>
              <a:t>往返通过率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19842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40/40字段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28600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0.50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SC"/>
              </a:defRPr>
            </a:pPr>
            <a:r>
              <a:t>最大误差比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87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≤1.0量化单位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278892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全部通过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SC"/>
              </a:defRPr>
            </a:pPr>
            <a:r>
              <a:t>校验和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9900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4帧checksum一致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329184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通过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291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SC"/>
              </a:defRPr>
            </a:pPr>
            <a:r>
              <a:t>保留位检查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493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lat/lon最高2位=0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79476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正确区分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794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SC"/>
              </a:defRPr>
            </a:pPr>
            <a:r>
              <a:t>真实零值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995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000001全零≠缺失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429768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正确处理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297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SC"/>
              </a:defRPr>
            </a:pPr>
            <a:r>
              <a:t>字段缺失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4988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780def speed=null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80060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SC"/>
              </a:defRPr>
            </a:pPr>
            <a:r>
              <a:t>4条记录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800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SC"/>
              </a:defRPr>
            </a:pPr>
            <a:r>
              <a:t>SQLite持久化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50017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state_record表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Noto Sans SC"/>
              </a:defRPr>
            </a:pPr>
            <a:r>
              <a:t>航迹、映射与质量保障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C86"/>
                </a:solidFill>
                <a:latin typeface="Noto Sans SC"/>
              </a:defRPr>
            </a:pPr>
            <a:r>
              <a:t>航迹分组（M3）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0972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Noto Sans SC"/>
              </a:defRPr>
            </a:pPr>
            <a:r>
              <a:t>000001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691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Noto Sans SC"/>
              </a:defRPr>
            </a:pPr>
            <a:r>
              <a:t>3条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ts 60→120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TEST0001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972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Noto Sans SC"/>
              </a:defRPr>
            </a:pPr>
            <a:r>
              <a:t>780abc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Noto Sans SC"/>
              </a:defRPr>
            </a:pPr>
            <a:r>
              <a:t>3条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ts 60→120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CES1234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0972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Noto Sans SC"/>
              </a:defRPr>
            </a:pPr>
            <a:r>
              <a:t>780def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Noto Sans SC"/>
              </a:defRPr>
            </a:pPr>
            <a:r>
              <a:t>3条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ts 60→120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(缺失)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track_sequence_no 从1开始，组内timestamp升序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C86"/>
                </a:solidFill>
                <a:latin typeface="Noto Sans SC"/>
              </a:defRPr>
            </a:pPr>
            <a:r>
              <a:t>映射核验（M4）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691640"/>
            <a:ext cx="16459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Noto Sans SC"/>
              </a:defRPr>
            </a:pPr>
            <a:r>
              <a:t>经纬度颠倒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lat↔lon映射错误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148840"/>
            <a:ext cx="16459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Noto Sans SC"/>
              </a:defRPr>
            </a:pPr>
            <a:r>
              <a:t>高度偏置遗漏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应为code-1000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606040"/>
            <a:ext cx="16459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Noto Sans SC"/>
              </a:defRPr>
            </a:pPr>
            <a:r>
              <a:t>bit2语义误判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time_source非time_valid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06324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Noto Sans SC"/>
              </a:defRPr>
            </a:pPr>
            <a:r>
              <a:t>覆盖不全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补充21条映射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29条正式映射，每条含规则/单位/空值/证据/verified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C86"/>
                </a:solidFill>
                <a:latin typeface="Noto Sans SC"/>
              </a:defRPr>
            </a:pPr>
            <a:r>
              <a:t>一致性检查（M5）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480560"/>
            <a:ext cx="22860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Noto Sans SC"/>
              </a:defRPr>
            </a:pPr>
            <a:r>
              <a:t>R1 POSITION_MISSING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780def lat/lon为空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480560"/>
            <a:ext cx="1097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Noto Sans SC"/>
              </a:defRPr>
            </a:pPr>
            <a: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4480560"/>
            <a:ext cx="13716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Noto Sans SC"/>
              </a:defRPr>
            </a:pPr>
            <a:r>
              <a:t>ERROR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983480"/>
            <a:ext cx="22860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Noto Sans SC"/>
              </a:defRPr>
            </a:pPr>
            <a:r>
              <a:t>R3 DUPLICATE_RECORD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983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Noto Sans SC"/>
              </a:defRPr>
            </a:pPr>
            <a:r>
              <a:t>OpenSky与TeachingLink同target_id+ts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983480"/>
            <a:ext cx="10972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Noto Sans SC"/>
              </a:defRPr>
            </a:pPr>
            <a: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4983480"/>
            <a:ext cx="13716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Noto Sans SC"/>
              </a:defRPr>
            </a:pPr>
            <a:r>
              <a:t>WARNING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Noto Sans SC"/>
              </a:defRPr>
            </a:pPr>
            <a:r>
              <a:t>显示状态：存在HIGH→ERROR；无HIGH有MEDIUM→WARNING；无告警→NORMAL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SC"/>
              </a:defRPr>
            </a:pPr>
            <a:r>
              <a:t>总结与改进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C4E8"/>
                </a:solidFill>
                <a:latin typeface="Noto Sans SC"/>
              </a:defRPr>
            </a:pPr>
            <a:r>
              <a:t>实验成果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M2: 41字节帧编解码，往返100%通过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M3: 3目标×3时刻航迹，track_sequence_no连续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M4: 29条核验映射，修正4类候选错误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M5: R1-R4规则，5条告警，质量态势合成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M6: 统一入口，空output可重复运行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C4E8"/>
                </a:solidFill>
                <a:latin typeface="Noto Sans SC"/>
              </a:defRPr>
            </a:pPr>
            <a:r>
              <a:t>关键发现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真实零值≠字段缺失（validity_flags区分）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字段缺失不阻断航迹关联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时间回退≠时间无效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message_valid仅代表格式校验通过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多源同目标会产生重复告警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C4E8"/>
                </a:solidFill>
                <a:latin typeface="Noto Sans SC"/>
              </a:defRPr>
            </a:pPr>
            <a:r>
              <a:t>改进方向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多源融合：区分真实重复与多源观测，避免误报DUPLICATE_RECORD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实时处理：当前为离线批处理，可扩展为流式增量更新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异常恢复：780def lat/lon缺失可结合历史航迹推算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SC"/>
              </a:defRPr>
            </a:pPr>
            <a:r>
              <a:t>• 安全完整性：message_valid不等于来源可信，需补充认证机制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80A0"/>
                </a:solidFill>
                <a:latin typeface="Noto Sans SC"/>
              </a:defRPr>
            </a:pPr>
            <a:r>
              <a:t>TeachingLink 为学校自定义教学协议，不对应任何行业标准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